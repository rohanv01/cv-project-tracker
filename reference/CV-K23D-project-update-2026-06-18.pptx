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9895" r:id="rId2"/>
  </p:sldMasterIdLst>
  <p:notesMasterIdLst>
    <p:notesMasterId r:id="rId5"/>
  </p:notesMasterIdLst>
  <p:handoutMasterIdLst>
    <p:handoutMasterId r:id="rId6"/>
  </p:handoutMasterIdLst>
  <p:sldIdLst>
    <p:sldId id="403" r:id="rId3"/>
    <p:sldId id="4093" r:id="rId4"/>
  </p:sldIdLst>
  <p:sldSz cx="9144000" cy="6858000" type="letter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7C80"/>
    <a:srgbClr val="FF5050"/>
    <a:srgbClr val="92D050"/>
    <a:srgbClr val="99CC00"/>
    <a:srgbClr val="A7D040"/>
    <a:srgbClr val="9CE33D"/>
    <a:srgbClr val="37516F"/>
    <a:srgbClr val="224F74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84" autoAdjust="0"/>
    <p:restoredTop sz="95928" autoAdjust="0"/>
  </p:normalViewPr>
  <p:slideViewPr>
    <p:cSldViewPr>
      <p:cViewPr varScale="1">
        <p:scale>
          <a:sx n="110" d="100"/>
          <a:sy n="110" d="100"/>
        </p:scale>
        <p:origin x="18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5" d="100"/>
        <a:sy n="55" d="100"/>
      </p:scale>
      <p:origin x="0" y="1578"/>
    </p:cViewPr>
  </p:sorterViewPr>
  <p:notesViewPr>
    <p:cSldViewPr>
      <p:cViewPr varScale="1">
        <p:scale>
          <a:sx n="59" d="100"/>
          <a:sy n="59" d="100"/>
        </p:scale>
        <p:origin x="-2532" y="-84"/>
      </p:cViewPr>
      <p:guideLst>
        <p:guide orient="horz" pos="3127"/>
        <p:guide pos="2142"/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888" cy="463550"/>
          </a:xfrm>
          <a:prstGeom prst="rect">
            <a:avLst/>
          </a:prstGeom>
        </p:spPr>
        <p:txBody>
          <a:bodyPr vert="horz" lIns="90035" tIns="45018" rIns="90035" bIns="45018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925" y="0"/>
            <a:ext cx="3036888" cy="463550"/>
          </a:xfrm>
          <a:prstGeom prst="rect">
            <a:avLst/>
          </a:prstGeom>
        </p:spPr>
        <p:txBody>
          <a:bodyPr vert="horz" lIns="90035" tIns="45018" rIns="90035" bIns="45018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  <a:cs typeface="+mn-cs"/>
              </a:defRPr>
            </a:lvl1pPr>
          </a:lstStyle>
          <a:p>
            <a:pPr>
              <a:defRPr/>
            </a:pPr>
            <a:fld id="{3DBF52F6-A7BE-4F5E-A672-8B274FB7BC37}" type="datetimeFigureOut">
              <a:rPr lang="en-US"/>
              <a:pPr>
                <a:defRPr/>
              </a:pPr>
              <a:t>8/25/26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6888" cy="465138"/>
          </a:xfrm>
          <a:prstGeom prst="rect">
            <a:avLst/>
          </a:prstGeom>
        </p:spPr>
        <p:txBody>
          <a:bodyPr vert="horz" lIns="90035" tIns="45018" rIns="90035" bIns="45018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925" y="8829675"/>
            <a:ext cx="3036888" cy="465138"/>
          </a:xfrm>
          <a:prstGeom prst="rect">
            <a:avLst/>
          </a:prstGeom>
        </p:spPr>
        <p:txBody>
          <a:bodyPr vert="horz" lIns="90035" tIns="45018" rIns="90035" bIns="4501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  <a:cs typeface="+mn-cs"/>
              </a:defRPr>
            </a:lvl1pPr>
          </a:lstStyle>
          <a:p>
            <a:pPr>
              <a:defRPr/>
            </a:pPr>
            <a:fld id="{1778158C-CB5E-4027-8415-CD16F7A8AB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035" tIns="45018" rIns="90035" bIns="45018" rtlCol="0" anchor="ctr"/>
          <a:lstStyle/>
          <a:p>
            <a:pPr lvl="0"/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6888" cy="463550"/>
          </a:xfrm>
          <a:prstGeom prst="rect">
            <a:avLst/>
          </a:prstGeom>
        </p:spPr>
        <p:txBody>
          <a:bodyPr vert="horz" lIns="90035" tIns="45018" rIns="90035" bIns="45018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100">
                <a:latin typeface="+mn-lt"/>
                <a:cs typeface="+mn-cs"/>
              </a:defRPr>
            </a:lvl1pPr>
          </a:lstStyle>
          <a:p>
            <a:pPr>
              <a:defRPr/>
            </a:pPr>
            <a:fld id="{D9B65686-6FA4-480E-A8D3-E0D55F9DD1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0089" y="4413250"/>
            <a:ext cx="5610225" cy="41862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85176" tIns="42588" rIns="85176" bIns="4258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B69773-F874-4E9E-9A83-FFF00AEE081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0D1114-24A0-4BCB-B81C-FFFF57F872CF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60300-A1E3-41D3-9EDC-42AC16C6B8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99006-8F9C-4E1C-88BD-A4D038E16CA3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FE61B-15E9-476A-8984-C2759B8501B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B51E5B-16A3-4EF4-82AA-4E54268E5979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469FC-C77F-4861-B7ED-6EADD9991B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2077A-39BC-4181-B4D1-E583FD52E81B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8E107-AA17-4B7D-A040-E3E9FF4FB6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BEEBE-BFF7-4FDF-9766-9C4A9B1561F3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6949EA-30EE-4E6A-B91A-967A2407EA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17EE88-96FA-4BD8-97BE-6CCD3ED5B2D5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60FF6-99C6-4F47-8797-0A023174C8C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3D4C5E-8424-41DC-B864-9061ED4246DC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86570-3A0F-4BFA-A279-5B0179717C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56360-3895-4E65-A438-D53D804BC1AD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20E19-78F9-464F-8D32-A1155EEAC7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3BA7F1-A2A5-4592-9845-573D8C7C2DC9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6CD95-0110-4029-83F9-7A5B1F5D5C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73117-1194-4B77-8291-424822269E93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CFB78-9EC0-4A9C-8F17-E8AC0EC0CD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7EBAA-630A-4588-B69D-3A566C7FDD0A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0D0283-F41B-429B-9688-18DF2B99D2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975"/>
            <a:ext cx="8534400" cy="708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4375" y="1257300"/>
            <a:ext cx="4038600" cy="4991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905375" y="1257300"/>
            <a:ext cx="4038600" cy="2419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905375" y="3829050"/>
            <a:ext cx="4038600" cy="2419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97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151834-FDB5-4BD5-9297-E3FCA87D94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CONFIDENTIA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2AE10-9413-44E2-ABAD-496827B4ED17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121B3-B4C0-4CA2-ADA1-82E5C03B47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783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7AB4A-0FA6-4B64-A12F-58E2F333D62E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B4F64-0776-40FB-B966-0DCA0C6D5A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 rot="19498444">
            <a:off x="274245" y="3161614"/>
            <a:ext cx="8021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</a:p>
        </p:txBody>
      </p:sp>
      <p:pic>
        <p:nvPicPr>
          <p:cNvPr id="8" name="Picture 6" descr="logo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18999" y="14139"/>
            <a:ext cx="158950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53633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0DD648-EA17-4162-B49A-E344CBB8D56C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647E3-1301-47ED-B38F-69275C8F817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1537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EEE26-441A-42B7-A89A-57D35966CED6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23F4C-E8FB-4B81-83D6-089D9ACCBE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32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DB8378-56EB-4DD0-AC1E-52DE8B201A60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0728A-86E3-4038-867C-5A468E53AB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387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D8F53-88B0-47DC-8371-FC7F9D2EAC9E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9BF796-D397-4F68-8F51-6021987F69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96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7C676-DDC7-4BFE-91CD-140D39A33FA3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53EDE-E5DE-4AB3-AB64-7C314956B5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90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D1E5F4-5703-45BF-B3A7-B5D120CE6486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8EE216-F586-4FFD-BBA4-D7700668E0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608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96B85-07B9-4375-8569-4516619E559A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63CE1-A2F9-4D71-80FD-5ECDFBDAE7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39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A42B6-44ED-4DE4-B1F7-A005E4CBE6DA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93DD03-AA59-455E-A5CB-7B75A59B90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928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6901E-C5E0-4E3A-A5FF-987C74E1DDCE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3131F4-0EEB-449E-B36A-6E54E9A4E45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1236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E7AB4A-0FA6-4B64-A12F-58E2F333D62E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CB4F64-0776-40FB-B966-0DCA0C6D5A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 rot="19498444">
            <a:off x="274245" y="3161614"/>
            <a:ext cx="8021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150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BDBF5AC-D135-4CCE-97F1-E48F9114C4B7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895D517-1823-459E-BE85-638EF64E6A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9838" r:id="rId1"/>
    <p:sldLayoutId id="2147489839" r:id="rId2"/>
    <p:sldLayoutId id="2147489840" r:id="rId3"/>
    <p:sldLayoutId id="2147489841" r:id="rId4"/>
    <p:sldLayoutId id="2147489842" r:id="rId5"/>
    <p:sldLayoutId id="2147489843" r:id="rId6"/>
    <p:sldLayoutId id="2147489844" r:id="rId7"/>
    <p:sldLayoutId id="2147489845" r:id="rId8"/>
    <p:sldLayoutId id="2147489846" r:id="rId9"/>
    <p:sldLayoutId id="2147489847" r:id="rId10"/>
    <p:sldLayoutId id="2147489848" r:id="rId11"/>
    <p:sldLayoutId id="2147489894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386DF9-8577-414A-B684-B553D58C6A1E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113D51F-FE4D-4DB6-A520-C29C975C91C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5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9896" r:id="rId1"/>
    <p:sldLayoutId id="2147489897" r:id="rId2"/>
    <p:sldLayoutId id="2147489898" r:id="rId3"/>
    <p:sldLayoutId id="2147489899" r:id="rId4"/>
    <p:sldLayoutId id="2147489900" r:id="rId5"/>
    <p:sldLayoutId id="2147489901" r:id="rId6"/>
    <p:sldLayoutId id="2147489902" r:id="rId7"/>
    <p:sldLayoutId id="2147489903" r:id="rId8"/>
    <p:sldLayoutId id="2147489904" r:id="rId9"/>
    <p:sldLayoutId id="2147489905" r:id="rId10"/>
    <p:sldLayoutId id="2147489906" r:id="rId11"/>
    <p:sldLayoutId id="2147489907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ubtitle 4"/>
          <p:cNvSpPr>
            <a:spLocks noGrp="1"/>
          </p:cNvSpPr>
          <p:nvPr>
            <p:ph type="subTitle" idx="1"/>
          </p:nvPr>
        </p:nvSpPr>
        <p:spPr>
          <a:xfrm>
            <a:off x="785786" y="3786190"/>
            <a:ext cx="7072362" cy="1285884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      CV-K23D Project Update </a:t>
            </a:r>
          </a:p>
          <a:p>
            <a:r>
              <a:rPr lang="en-US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June 18, 2026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C23E6F-F1E3-402C-9BC9-322B711138EA}" type="datetime4">
              <a:rPr lang="en-US" smtClean="0"/>
              <a:pPr>
                <a:defRPr/>
              </a:pPr>
              <a:t>August 25, 2026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460300-A1E3-41D3-9EDC-42AC16C6B86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332" name="Rectangle 4"/>
          <p:cNvSpPr>
            <a:spLocks noChangeArrowheads="1"/>
          </p:cNvSpPr>
          <p:nvPr/>
        </p:nvSpPr>
        <p:spPr bwMode="auto">
          <a:xfrm>
            <a:off x="177745" y="-900146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 dirty="0"/>
          </a:p>
        </p:txBody>
      </p:sp>
      <p:sp>
        <p:nvSpPr>
          <p:cNvPr id="3228676" name="Rectangle 4"/>
          <p:cNvSpPr>
            <a:spLocks noChangeArrowheads="1"/>
          </p:cNvSpPr>
          <p:nvPr/>
        </p:nvSpPr>
        <p:spPr bwMode="auto">
          <a:xfrm>
            <a:off x="177745" y="-900146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63000" y="6477000"/>
            <a:ext cx="381000" cy="365125"/>
          </a:xfrm>
        </p:spPr>
        <p:txBody>
          <a:bodyPr/>
          <a:lstStyle/>
          <a:p>
            <a:pPr>
              <a:defRPr/>
            </a:pPr>
            <a:fld id="{6DCB4F64-0776-40FB-B966-0DCA0C6D5AC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53677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 dirty="0"/>
          </a:p>
        </p:txBody>
      </p:sp>
      <p:sp>
        <p:nvSpPr>
          <p:cNvPr id="592691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0" y="692696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0" y="2949828"/>
            <a:ext cx="9144000" cy="335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0000FF"/>
                </a:solidFill>
              </a:rPr>
              <a:t>--------------------------------------------------------------------------------------------------------------------------------------------------------------------------------</a:t>
            </a:r>
          </a:p>
        </p:txBody>
      </p:sp>
      <p:pic>
        <p:nvPicPr>
          <p:cNvPr id="10" name="Picture 6" descr="logo.gif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7600" y="66675"/>
            <a:ext cx="158950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59BF82A-C0E7-8508-86B1-7BF3BEF20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995605"/>
              </p:ext>
            </p:extLst>
          </p:nvPr>
        </p:nvGraphicFramePr>
        <p:xfrm>
          <a:off x="107504" y="764704"/>
          <a:ext cx="108012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25136885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endParaRPr lang="en-IN" sz="1600" b="1" dirty="0">
                        <a:solidFill>
                          <a:sysClr val="windowText" lastClr="000000"/>
                        </a:solidFill>
                        <a:latin typeface="Arial Narrow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440019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6200" y="3200400"/>
            <a:ext cx="8991600" cy="2964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  <a:spcAft>
                <a:spcPts val="800"/>
              </a:spcAft>
            </a:pPr>
            <a:r>
              <a:rPr lang="en-US" sz="1200" b="1" dirty="0"/>
              <a:t>Overview: </a:t>
            </a:r>
            <a:endParaRPr lang="en-US" sz="1200" dirty="0">
              <a:solidFill>
                <a:srgbClr val="0000FF"/>
              </a:solidFill>
            </a:endParaRP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5x500.0 g of compound-1 converted to compound-2 and obtained 3.5 kg solid material with 98% purity by GC.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2x800.0 g of compound-2 converted to compound-3 and obtained 1.3 kg liquid material with 98% purity by GC.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2x800.0 g of compound-2 is being converted to compound-3, reaction is in progress.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10.0 g of compound-3 converted to compound-4 and obtained 6.5 g liquid material with 95% purity by GC.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100.0 g of compound-3 converted to compound-4 and obtained 70.0 g liquid material with 96% purity by GC.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500.0 g of compound-3 is being converted to compound-4, reaction is in progress.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2.0 g of compound-4 treated with comd-B/ K2CO3/MeOH and obtained 0.7 g of CV-10151 with 94% purity by GC, compound confirmed by HNMR, data attached.</a:t>
            </a:r>
          </a:p>
          <a:p>
            <a:pPr marL="228600" indent="-228600">
              <a:lnSpc>
                <a:spcPts val="1600"/>
              </a:lnSpc>
              <a:spcAft>
                <a:spcPts val="800"/>
              </a:spcAft>
              <a:buFontTx/>
              <a:buAutoNum type="arabicPeriod"/>
            </a:pPr>
            <a:r>
              <a:rPr lang="en-US" sz="1200" dirty="0">
                <a:solidFill>
                  <a:srgbClr val="0000FF"/>
                </a:solidFill>
              </a:rPr>
              <a:t>6.0 g of compound-4 treated with comd-D/ NaHMDS/THF and obtained 6.0 g of compound-5, waiting for HNMR.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7086" y="-7795"/>
            <a:ext cx="212474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Target </a:t>
            </a:r>
            <a:r>
              <a:rPr lang="en-US" sz="1000" b="1" dirty="0" err="1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Qty</a:t>
            </a:r>
            <a:r>
              <a:rPr lang="en-US" sz="1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       :1.0 kg 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Assigned On  :03-06-2026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Delivery date   :20-07-2026</a:t>
            </a:r>
            <a:r>
              <a:rPr lang="en-US" sz="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8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                       </a:t>
            </a:r>
            <a:endParaRPr lang="en-US" sz="10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68007" name="Picture 39" descr="Route of Synthesis (ROS) In Pharmaceutical Development | Learn With FAQs - PharmaGuru | Global Pharma Training, Certifications &amp; Expert Blogs">
            <a:extLst>
              <a:ext uri="{FF2B5EF4-FFF2-40B4-BE49-F238E27FC236}">
                <a16:creationId xmlns:a16="http://schemas.microsoft.com/office/drawing/2014/main" id="{4E103702-8EDF-AD14-A4EA-104C8AC3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3"/>
            <a:ext cx="7747000" cy="182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530"/>
</p:sld>
</file>

<file path=ppt/theme/theme1.xml><?xml version="1.0" encoding="utf-8"?>
<a:theme xmlns:a="http://schemas.openxmlformats.org/drawingml/2006/main" name="CiVentiChem Master 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124890</TotalTime>
  <Words>193</Words>
  <Application>Microsoft Macintosh PowerPoint</Application>
  <PresentationFormat>Letter Paper (8.5x11 in)</PresentationFormat>
  <Paragraphs>20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CiVentiChem Master 1</vt:lpstr>
      <vt:lpstr>1_Office Theme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Glenn Killingworth</dc:creator>
  <cp:lastModifiedBy>Ajith Rao</cp:lastModifiedBy>
  <cp:revision>12928</cp:revision>
  <dcterms:created xsi:type="dcterms:W3CDTF">2010-10-22T14:41:31Z</dcterms:created>
  <dcterms:modified xsi:type="dcterms:W3CDTF">2026-08-25T09:55:32Z</dcterms:modified>
</cp:coreProperties>
</file>